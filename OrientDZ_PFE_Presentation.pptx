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OrientDZ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Fonctionnement offline</c:v>
                  </c:pt>
                  <c:pt idx="1">
                    <c:v>Bilingue FR/AR natif</c:v>
                  </c:pt>
                  <c:pt idx="2">
                    <c:v>0 donnée vers cloud</c:v>
                  </c:pt>
                  <c:pt idx="3">
                    <c:v>Urgence QR code</c:v>
                  </c:pt>
                  <c:pt idx="4">
                    <c:v>Nutrition intégrée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Apps existantes (moy.)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Fonctionnement offline</c:v>
                  </c:pt>
                  <c:pt idx="1">
                    <c:v>Bilingue FR/AR natif</c:v>
                  </c:pt>
                  <c:pt idx="2">
                    <c:v>0 donnée vers cloud</c:v>
                  </c:pt>
                  <c:pt idx="3">
                    <c:v>Urgence QR code</c:v>
                  </c:pt>
                  <c:pt idx="4">
                    <c:v>Nutrition intégrée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</c:v>
                </c:pt>
                <c:pt idx="1">
                  <c:v>10</c:v>
                </c:pt>
                <c:pt idx="2">
                  <c:v>5</c:v>
                </c:pt>
                <c:pt idx="3">
                  <c:v>0</c:v>
                </c:pt>
                <c:pt idx="4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457200"/>
            <a:ext cx="3474720" cy="347472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2377440" cy="310896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CFBF1"/>
                </a:solidFill>
              </a:rPr>
              <a:t>PROJET DE FIN D'ÉTUDES — NIT 2025-2026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2743200" y="960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Intelligente d'Orientation Médicale &amp; d'Urgence en Algérie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4114800" cy="22860"/>
          </a:xfrm>
          <a:prstGeom prst="rect">
            <a:avLst/>
          </a:prstGeom>
          <a:solidFill>
            <a:srgbClr val="0D9488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724912"/>
            <a:ext cx="1828800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249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OrientNutri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14600" y="2724912"/>
            <a:ext cx="1828800" cy="310896"/>
          </a:xfrm>
          <a:prstGeom prst="rect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27249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OrientIA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2724912"/>
            <a:ext cx="1828800" cy="310896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7249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OrientMap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29400" y="2724912"/>
            <a:ext cx="1828800" cy="310896"/>
          </a:xfrm>
          <a:prstGeom prst="rect">
            <a:avLst/>
          </a:prstGeom>
          <a:solidFill>
            <a:srgbClr val="DC2626">
              <a:alpha val="2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7249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SauveMoi QR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Présenté par 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Islem Ahmed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3708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Établissement : Numidia Institute of Technology  |  Année : 2025-2026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INTRODUCTION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: La Santé Numérique en Algérie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54864" cy="9875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Taux de pénétration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smartphone urbain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441448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41448"/>
            <a:ext cx="54864" cy="9875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4871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8640" y="29443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Wilayas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couvertes par OrientDZ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557016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57016"/>
            <a:ext cx="54864" cy="9875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0273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48640" y="405993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Établissements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&amp; praticiens référencés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83280" y="1325880"/>
            <a:ext cx="53949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66160" y="14173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Défis du système de santé algérien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566160" y="1901952"/>
            <a:ext cx="274320" cy="27432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⚠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13632" y="18745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Surcharge des services hospitaliers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566160" y="2450592"/>
            <a:ext cx="274320" cy="27432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2450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913632" y="24231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Absence d'un référentiel numérique unifié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566160" y="2999232"/>
            <a:ext cx="274320" cy="27432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🔌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913632" y="29718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Dépendance aux serveurs cloud — inutilisable hors-ligne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566160" y="3547872"/>
            <a:ext cx="274320" cy="27432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566160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🗣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913632" y="35204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Barrière linguistique FR / AR non traitée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566160" y="4096512"/>
            <a:ext cx="274320" cy="27432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566160" y="4096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🔒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913632" y="40690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Vulnérabilité des données médicales en urgence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892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OrientDZ — NIT 2025-2026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INTRODUCTION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OrientDZ : Vue d'Ensemble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Une plateforme mobile modulaire, bilingue (FR/AR), fonctionnant hors-ligne par défaut, dédiée à l'orientation médicale et à la sécurité sanitaire en Algérie.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114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83080"/>
            <a:ext cx="54864" cy="12984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Shape 7"/>
          <p:cNvSpPr/>
          <p:nvPr/>
        </p:nvSpPr>
        <p:spPr>
          <a:xfrm>
            <a:off x="530352" y="1947672"/>
            <a:ext cx="502920" cy="502920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8928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B6D4"/>
                </a:solidFill>
              </a:rPr>
              <a:t>OrientIA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" y="21671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Assistant Médical IA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0352" y="24963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Chatbot bilingue analysant les symptômes et orientant vers le bon spécialiste parmi 30+ spécialités médicales.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783080"/>
            <a:ext cx="4114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783080"/>
            <a:ext cx="54864" cy="12984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Shape 14"/>
          <p:cNvSpPr/>
          <p:nvPr/>
        </p:nvSpPr>
        <p:spPr>
          <a:xfrm>
            <a:off x="4919472" y="1947672"/>
            <a:ext cx="502920" cy="50292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919472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32120" y="18928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B981"/>
                </a:solidFill>
              </a:rPr>
              <a:t>OrientNutri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532120" y="21671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Plan Nutritionnel IA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19472" y="24963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Calcul BMR/TDEE (Mifflin-St Jeor) et macronutriments personnalisés. 100% hors-ligne.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246120"/>
            <a:ext cx="4114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246120"/>
            <a:ext cx="54864" cy="12984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530352" y="3410712"/>
            <a:ext cx="502920" cy="50292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410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🗺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33558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</a:rPr>
              <a:t>OrientMap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43000" y="36301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Carte Santé Interactive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0352" y="39593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Géolocalisation des hôpitaux, cliniques et pharmacies de garde sur les 48 wilayas.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3246120"/>
            <a:ext cx="4114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246120"/>
            <a:ext cx="54864" cy="12984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Shape 28"/>
          <p:cNvSpPr/>
          <p:nvPr/>
        </p:nvSpPr>
        <p:spPr>
          <a:xfrm>
            <a:off x="4919472" y="3410712"/>
            <a:ext cx="502920" cy="502920"/>
          </a:xfrm>
          <a:prstGeom prst="ellipse">
            <a:avLst/>
          </a:prstGeom>
          <a:solidFill>
            <a:srgbClr val="DC2626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919472" y="3410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🆘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32120" y="33558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2626"/>
                </a:solidFill>
              </a:rPr>
              <a:t>SauveMoi QR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532120" y="36301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Urgence Médicale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19472" y="39593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Fiche clinique chiffrée (XOR+Base64) encodée en QR Code, accessible sans réseau.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892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OrientDZ — NIT 2025-2026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4572000" cy="4572000"/>
          </a:xfrm>
          <a:prstGeom prst="ellipse">
            <a:avLst/>
          </a:prstGeom>
          <a:solidFill>
            <a:srgbClr val="0D9488">
              <a:alpha val="7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6B6D4">
              <a:alpha val="7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PROBLÉMATIQUE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03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de Recherche Centrale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8412480" cy="804672"/>
          </a:xfrm>
          <a:prstGeom prst="rect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88720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</a:rPr>
              <a:t>"Comment concevoir une plateforme mobile de santé, adaptée au contexte algérien, bilingue (FR/AR) de manière native, indépendante des infrastructures cloud, et capable de protéger les données médicales même sans connectivité ?"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176272"/>
            <a:ext cx="1920240" cy="260604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76272"/>
            <a:ext cx="1920240" cy="347472"/>
          </a:xfrm>
          <a:prstGeom prst="rect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762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59689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Fragmentation de l'info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063240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Aucune plateforme unifiée: orientation + nutrition + urgence offline.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68880" y="2176272"/>
            <a:ext cx="1920240" cy="260604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2176272"/>
            <a:ext cx="1920240" cy="347472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468880" y="21762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259689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Barrière linguistique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60320" y="3063240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Aucun support natif arabe adapté au contexte algérien sans cloud.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2176272"/>
            <a:ext cx="1920240" cy="260604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2176272"/>
            <a:ext cx="1920240" cy="347472"/>
          </a:xfrm>
          <a:prstGeom prst="rect">
            <a:avLst/>
          </a:prstGeom>
          <a:solidFill>
            <a:srgbClr val="DC2626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21762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259689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Urgences sans données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63440" y="3063240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Patient inconscient = secouristes sans accès aux infos médicales critiques.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75120" y="2176272"/>
            <a:ext cx="1920240" cy="260604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2176272"/>
            <a:ext cx="1920240" cy="347472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21762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259689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Dépendance cloud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66560" y="3063240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Apps inutilisables dans les zones à faible connectivité (hors agglomérations).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892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OrientDZ — NIT 2025-2026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OBJECTIFS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 OrientDZ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27432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61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⚙  Fonctionnels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1883664"/>
            <a:ext cx="201168" cy="201168"/>
          </a:xfrm>
          <a:prstGeom prst="ellipse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1810512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Système expert nutritionnel décentralisé (BMR/TDEE — Mifflin-St Jeor)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0352" y="2688336"/>
            <a:ext cx="201168" cy="201168"/>
          </a:xfrm>
          <a:prstGeom prst="ellipse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61518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Module urgence SauveMoi QR avec chiffrement local XOR + Base64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" y="3493008"/>
            <a:ext cx="201168" cy="201168"/>
          </a:xfrm>
          <a:prstGeom prst="ellipse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419856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Localisation bilingue FR/AR via localStorage (sans cloud)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" y="4297680"/>
            <a:ext cx="201168" cy="201168"/>
          </a:xfrm>
          <a:prstGeom prst="ellipse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22452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Interface RTL adaptée pour la langue arabe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1261872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261872"/>
            <a:ext cx="274320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3246120" y="1261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🏗  Architecturaux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10712" y="1883664"/>
            <a:ext cx="201168" cy="201168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685032" y="1810512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Architecture offline-first : toutes fonctions critiques sans réseau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10712" y="2688336"/>
            <a:ext cx="201168" cy="201168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685032" y="261518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Décentralisation : aucune donnée médicale vers serveurs distants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10712" y="3493008"/>
            <a:ext cx="201168" cy="201168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685032" y="3419856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Architecture modulaire : ajout/suppression de composants sans refonte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1261872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1261872"/>
            <a:ext cx="27432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1261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🎓  Académiques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1072" y="1883664"/>
            <a:ext cx="201168" cy="201168"/>
          </a:xfrm>
          <a:prstGeom prst="ellipse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565392" y="1810512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Démontrer la faisabilité d'un système expert médical embarqué sans serveur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91072" y="2688336"/>
            <a:ext cx="201168" cy="201168"/>
          </a:xfrm>
          <a:prstGeom prst="ellipse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565392" y="261518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Évaluer les protocoles de chiffrement légers sur mobile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91072" y="3493008"/>
            <a:ext cx="201168" cy="201168"/>
          </a:xfrm>
          <a:prstGeom prst="ellipse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565392" y="3419856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Proposer un modèle de localisation bilingue native réplicable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892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OrientDZ — NIT 2025-2026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MÉTHODOLOGIE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Démarche de Développement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5331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Stack Technique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914400" cy="329184"/>
          </a:xfrm>
          <a:prstGeom prst="rect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830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Frontend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08760" y="17830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HTML5 · CSS3 · JavaScript ES6 Modules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267712"/>
            <a:ext cx="914400" cy="329184"/>
          </a:xfrm>
          <a:prstGeom prst="rect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677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</a:rPr>
              <a:t>Données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08760" y="22677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JSON local — symptoms_database.json · pharmanutri_database.json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752344"/>
            <a:ext cx="914400" cy="329184"/>
          </a:xfrm>
          <a:prstGeom prst="rect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5234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IA / Expert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08760" y="275234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Règles métier embarquées — aucun appel LLM externe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236976"/>
            <a:ext cx="914400" cy="329184"/>
          </a:xfrm>
          <a:prstGeom prst="rect">
            <a:avLst/>
          </a:prstGeom>
          <a:solidFill>
            <a:srgbClr val="DC2626">
              <a:alpha val="22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3697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Chiffrement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508760" y="323697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XOR + Base64 — local, offline-first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721608"/>
            <a:ext cx="914400" cy="329184"/>
          </a:xfrm>
          <a:prstGeom prst="rect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216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Localisation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37216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localStorage / i18n.js — FR ↔ AR avec RTL dynamique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4206240"/>
            <a:ext cx="914400" cy="329184"/>
          </a:xfrm>
          <a:prstGeom prst="rect">
            <a:avLst/>
          </a:prstGeom>
          <a:solidFill>
            <a:srgbClr val="64748B">
              <a:alpha val="22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2062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QR Code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508760" y="42062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qrcodejs (CDN) — génération côté client uniquement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234440"/>
            <a:ext cx="402336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92040" y="13533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Démarche Agile (15 semaines)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92040" y="1920240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4960" y="17922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Analyse &amp; Spécification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26680" y="1828800"/>
            <a:ext cx="822960" cy="237744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726680" y="18288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4 sem.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394960" y="213969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Recueil des besoins, étude de l'existant, décisions de périmètre (retrait PharmaInfo).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93208" y="2359152"/>
            <a:ext cx="0" cy="365760"/>
          </a:xfrm>
          <a:prstGeom prst="line">
            <a:avLst/>
          </a:prstGeom>
          <a:noFill/>
          <a:ln w="1905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2880360"/>
            <a:ext cx="402336" cy="40233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94960" y="27523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Conception &amp; Implémentation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726680" y="2788920"/>
            <a:ext cx="822960" cy="237744"/>
          </a:xfrm>
          <a:prstGeom prst="rect">
            <a:avLst/>
          </a:prstGeom>
          <a:solidFill>
            <a:srgbClr val="06B6D4">
              <a:alpha val="2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726680" y="27889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</a:rPr>
              <a:t>8 sem.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394960" y="309981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Architecture modulaire, développement OrientNutri + SauveMoi QR, interface bilingue.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93208" y="3319272"/>
            <a:ext cx="0" cy="365760"/>
          </a:xfrm>
          <a:prstGeom prst="line">
            <a:avLst/>
          </a:prstGeom>
          <a:noFill/>
          <a:ln w="190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92040" y="3840480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4892040" y="3840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94960" y="37124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Test &amp; Validation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726680" y="3749040"/>
            <a:ext cx="822960" cy="237744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726680" y="37490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3 sem.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394960" y="405993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Tests unitaires algorithmes nutritionnels, conformité chiffrement, scénarios urgence.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9" name="Text 47"/>
          <p:cNvSpPr/>
          <p:nvPr/>
        </p:nvSpPr>
        <p:spPr>
          <a:xfrm>
            <a:off x="274320" y="4892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OrientDZ — NIT 2025-2026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MÉTHODOLOGIE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OrientNutri &amp; SauveMoi QR — Algorithmes Clés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11480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411480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618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🥗  OrientNutri — Système Expert Nutritionnel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55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Équation de Mifflin-St Jeor :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057400"/>
            <a:ext cx="3840480" cy="329184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574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Homme: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61872" y="20574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BMR = 10×P + 6.25×T − 5×Â + 5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459736"/>
            <a:ext cx="3840480" cy="329184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597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Femme: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61872" y="24597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BMR = 10×P + 6.25×T − 5×Â − 161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2880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TDEE = BMR × Facteur d'activité (NAP : 1.2 – 1.9)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2186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Répartition macronutriments selon l'objectif :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529584"/>
            <a:ext cx="54864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5295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Perte de poids → P 40% · L 30% · G 30%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877056"/>
            <a:ext cx="54864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770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Maintien → P 30% · L 30% · G 40%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4224528"/>
            <a:ext cx="54864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24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Prise de masse → P 35% · L 25% · G 40%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261872"/>
            <a:ext cx="402336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261872"/>
            <a:ext cx="402336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2618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🆘  SauveMoi QR — Chiffrement Local d'Urgence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17556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Protocole de sécurité :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92040" y="2139696"/>
            <a:ext cx="310896" cy="31089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85232" y="20848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Saisie des données cliniques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285232" y="2377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Groupe sanguin, allergies, pathologies, traitements, contacts urgence.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92040" y="2889504"/>
            <a:ext cx="310896" cy="31089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2889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85232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Chiffrement XOR + Base64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85232" y="31272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Clé dérivée localement — aucune donnée n'est transmise au réseau.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92040" y="3639312"/>
            <a:ext cx="310896" cy="31089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3639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85232" y="3584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Génération QR Code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285232" y="387705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qrcodejs côté client — données encodées dans le QR, scannable offline.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92040" y="4389120"/>
            <a:ext cx="310896" cy="31089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1" name="Text 39"/>
          <p:cNvSpPr/>
          <p:nvPr/>
        </p:nvSpPr>
        <p:spPr>
          <a:xfrm>
            <a:off x="4892040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85232" y="43342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Déchiffrement par secouriste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285232" y="46268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Scan QR → décodage Base64 → XOR inverse → fiche clinique lisible.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4892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OrientDZ — NIT 2025-2026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RÉSULTATS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OrientIA — Assistant Médical IA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19202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98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7190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Symptômes reconnus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23444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234440"/>
            <a:ext cx="192024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298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68880" y="17190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Spécialités médicales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23444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234440"/>
            <a:ext cx="19202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298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0" y="17190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Wilayas avec hôpitaux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75120" y="123444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0" y="1234440"/>
            <a:ext cx="192024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1298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675120" y="17190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Niveaux d'urgence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URG_1 → URG_4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359152"/>
            <a:ext cx="84124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246888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Fonctionnalités Clés de OrientIA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2916936"/>
            <a:ext cx="347472" cy="347472"/>
          </a:xfrm>
          <a:prstGeom prst="ellipse">
            <a:avLst/>
          </a:prstGeom>
          <a:solidFill>
            <a:srgbClr val="0D9488">
              <a:alpha val="2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916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🔍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9264" y="2880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Reconnaissance de symptômes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69264" y="3154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Analyse textuelle + synonymes — ex. 'mal de tête', 'céphalée', 'migraine' → même entrée.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916936"/>
            <a:ext cx="347472" cy="347472"/>
          </a:xfrm>
          <a:prstGeom prst="ellipse">
            <a:avLst/>
          </a:prstGeom>
          <a:solidFill>
            <a:srgbClr val="0D9488">
              <a:alpha val="22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916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🏥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75504" y="2880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Orientation vers spécialiste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175504" y="3154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Spécialiste principal + spécialistes secondaires + premier recours (pharmacien/urgences).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3721608"/>
            <a:ext cx="347472" cy="347472"/>
          </a:xfrm>
          <a:prstGeom prst="ellipse">
            <a:avLst/>
          </a:prstGeom>
          <a:solidFill>
            <a:srgbClr val="0D9488">
              <a:alpha val="2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9264" y="3685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Causes &amp; Questions de triage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69264" y="39593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causes fréquentes + 4 questions cliniques de suivi affichées au patient.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721608"/>
            <a:ext cx="347472" cy="347472"/>
          </a:xfrm>
          <a:prstGeom prst="ellipse">
            <a:avLst/>
          </a:prstGeom>
          <a:solidFill>
            <a:srgbClr val="0D9488">
              <a:alpha val="22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📍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75504" y="3685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Établissements par wilaya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175504" y="39593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Sélection wilaya → liste hôpitaux publics + cliniques privées avec spécialités et téléphone.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892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OrientDZ — NIT 2025-2026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RÉSULTATS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OrientNutri — Validation des Algorithmes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Tableau 2.3 — Cas de test de validation (extrait)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201168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5727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Profil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0" y="1572768"/>
            <a:ext cx="13716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0" y="15727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BMR Calculé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1572768"/>
            <a:ext cx="150876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157276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TDEE (NAP×1.55)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57800" y="1572768"/>
            <a:ext cx="146304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15727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Objectif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20840" y="1572768"/>
            <a:ext cx="109728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15727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Protéines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818120" y="1572768"/>
            <a:ext cx="11887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818120" y="15727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Statut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1938528"/>
            <a:ext cx="20116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H, 25a, 75kg, 1m78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77440" y="1938528"/>
            <a:ext cx="13716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0" y="19385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1 798 kcal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49040" y="1938528"/>
            <a:ext cx="150876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19385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2 787 kcal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57800" y="1938528"/>
            <a:ext cx="146304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1938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Prise de masse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20840" y="1938528"/>
            <a:ext cx="10972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19385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243 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818120" y="1938528"/>
            <a:ext cx="118872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19385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✓ Conforme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2340864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3408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F, 32a, 62kg, 1m65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377440" y="2340864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77440" y="23408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1 412 kcal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749040" y="2340864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9040" y="234086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2 189 kcal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257800" y="2340864"/>
            <a:ext cx="1463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57800" y="23408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Perte de poids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20840" y="234086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0840" y="23408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219 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818120" y="2340864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18120" y="23408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✓ Conforme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2743200"/>
            <a:ext cx="20116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H, 45a, 90kg, 1m80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377440" y="2743200"/>
            <a:ext cx="13716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0" y="2743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1 900 kcal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749040" y="2743200"/>
            <a:ext cx="150876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49040" y="2743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2 945 kcal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57800" y="2743200"/>
            <a:ext cx="146304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57800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Maintien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720840" y="2743200"/>
            <a:ext cx="10972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20840" y="2743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221 g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818120" y="2743200"/>
            <a:ext cx="118872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818120" y="2743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✓ Conforme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65760" y="3145536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31455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F, 19a, 55kg, 1m60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377440" y="3145536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77440" y="31455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1 330 kcal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749040" y="314553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49040" y="314553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2 062 kcal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257800" y="3145536"/>
            <a:ext cx="1463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57800" y="31455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Prise de masse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720840" y="3145536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20840" y="31455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180 g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818120" y="3145536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18120" y="31455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✓ Conforme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65760" y="3657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Répartition macronutriments — Profil Prise de masse (2 945 kcal)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822960" y="4005072"/>
            <a:ext cx="2624328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9" name="Text 67"/>
          <p:cNvSpPr/>
          <p:nvPr/>
        </p:nvSpPr>
        <p:spPr>
          <a:xfrm>
            <a:off x="868680" y="4005072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Protéines 35% — 1 031 kcal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447288" y="4005072"/>
            <a:ext cx="2999232" cy="4114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1" name="Text 69"/>
          <p:cNvSpPr/>
          <p:nvPr/>
        </p:nvSpPr>
        <p:spPr>
          <a:xfrm>
            <a:off x="3493008" y="4005072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Glucides 40% — 1 178 kcal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446520" y="4005072"/>
            <a:ext cx="187452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3" name="Text 71"/>
          <p:cNvSpPr/>
          <p:nvPr/>
        </p:nvSpPr>
        <p:spPr>
          <a:xfrm>
            <a:off x="6492240" y="40050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Lipides 25% — 736 kcal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5" name="Text 73"/>
          <p:cNvSpPr/>
          <p:nvPr/>
        </p:nvSpPr>
        <p:spPr>
          <a:xfrm>
            <a:off x="274320" y="4892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OrientDZ — NIT 2025-2026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RÉSULTATS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SauveMoi QR &amp; OrientMap — Résultats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411480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🆘  SauveMoi QR — Fiche Clinique d'Urgence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6916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Champs de la fiche clinique chiffrée 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" y="2011680"/>
            <a:ext cx="3794760" cy="301752"/>
          </a:xfrm>
          <a:prstGeom prst="rect">
            <a:avLst/>
          </a:prstGeom>
          <a:solidFill>
            <a:srgbClr val="FFF5F5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1168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Groupe sanguin: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286000" y="201168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A+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30352" y="2359152"/>
            <a:ext cx="37947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5915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Allergies: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86000" y="235915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Pénicilline, Aspirine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30352" y="2706624"/>
            <a:ext cx="3794760" cy="301752"/>
          </a:xfrm>
          <a:prstGeom prst="rect">
            <a:avLst/>
          </a:prstGeom>
          <a:solidFill>
            <a:srgbClr val="FFF5F5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706624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Pathologies: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286000" y="2706624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Diabète type 2, HTA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30352" y="3054096"/>
            <a:ext cx="37947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054096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Traitements en cours: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286000" y="3054096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Metformine 500mg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0352" y="3401568"/>
            <a:ext cx="3794760" cy="301752"/>
          </a:xfrm>
          <a:prstGeom prst="rect">
            <a:avLst/>
          </a:prstGeom>
          <a:solidFill>
            <a:srgbClr val="FFF5F5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40156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Contact d'urgence: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286000" y="340156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+213 5X XX XX XX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30352" y="3749040"/>
            <a:ext cx="37947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74904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Médecin traitant: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286000" y="37490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Dr. Mansouri — Alger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30352" y="4096512"/>
            <a:ext cx="3794760" cy="301752"/>
          </a:xfrm>
          <a:prstGeom prst="rect">
            <a:avLst/>
          </a:prstGeom>
          <a:solidFill>
            <a:srgbClr val="FFF5F5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09651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Antécédents chirurgicaux: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286000" y="409651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Appendicectomie 2019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0" y="1234440"/>
            <a:ext cx="402336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1234440"/>
            <a:ext cx="402336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1234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🗺  OrientMap — Carte Santé Interactive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1755648"/>
            <a:ext cx="292608" cy="292608"/>
          </a:xfrm>
          <a:prstGeom prst="ellipse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1755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📍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12080" y="17007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Géolocalisation GPS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212080" y="1975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Détection position → affichage structures de santé proches en temps réel.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2304288"/>
            <a:ext cx="292608" cy="292608"/>
          </a:xfrm>
          <a:prstGeom prst="ellipse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2304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🏥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12080" y="22494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Hôpitaux Publics &amp; Cliniques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212080" y="2523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Filtrage par type d'établissement + spécialités disponibles par wilaya.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46320" y="2852928"/>
            <a:ext cx="292608" cy="292608"/>
          </a:xfrm>
          <a:prstGeom prst="ellipse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2852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💊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212080" y="27980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Pharmacies de garde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212080" y="30723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Localisation pharmacies de garde 24h/7j — données actualisées.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46320" y="3401568"/>
            <a:ext cx="292608" cy="292608"/>
          </a:xfrm>
          <a:prstGeom prst="ellipse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3401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🚨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212080" y="33467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Urgences SAMU 14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212080" y="36210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Accès direct numéro SAMU 14 et Protection Civile 1021 depuis la carte.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46320" y="3950208"/>
            <a:ext cx="292608" cy="292608"/>
          </a:xfrm>
          <a:prstGeom prst="ellipse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4846320" y="395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📱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212080" y="38953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Interface responsive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212080" y="41696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Adapté mobile et tablette, mode sombre, support arabe RTL.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5" name="Text 53"/>
          <p:cNvSpPr/>
          <p:nvPr/>
        </p:nvSpPr>
        <p:spPr>
          <a:xfrm>
            <a:off x="274320" y="4892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OrientDZ — NIT 2025-2026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RÉSULTATS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des Résultats &amp; Performances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Analyse comparative — OrientDZ vs applications existantes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536192"/>
          <a:ext cx="8412480" cy="23957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069080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4069080"/>
            <a:ext cx="19202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4114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65760" y="44074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requête réseau — pour les fonctions critiques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468880" y="4069080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68880" y="4069080"/>
            <a:ext cx="19202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2468880" y="4114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468880" y="44074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temps de réponse — chatbot symptômes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572000" y="4069080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0" y="4069080"/>
            <a:ext cx="19202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0" y="4114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572000" y="44074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offline — OrientNutri + SauveMoi QR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675120" y="4069080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675120" y="4069080"/>
            <a:ext cx="192024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19"/>
          <p:cNvSpPr/>
          <p:nvPr/>
        </p:nvSpPr>
        <p:spPr>
          <a:xfrm>
            <a:off x="6675120" y="4114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675120" y="44074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langues — FR + AR avec RTL dynamique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2"/>
          <p:cNvSpPr/>
          <p:nvPr/>
        </p:nvSpPr>
        <p:spPr>
          <a:xfrm>
            <a:off x="274320" y="4892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OrientDZ — NIT 2025-2026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DISCUSSION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Contributions, Limites &amp; Perspectives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411480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✅  Contributions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Premier système expert médical bilingue FR/AR embarqué pour l'Algérie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0665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Architecture offline-first sans aucune infrastructure serveur démontrée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468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Protocole de chiffrement léger (XOR+Base64) validé pour usage médical mobile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8712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Modèle de localisation bilingue native réplicable pour d'autres domaines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402336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234440"/>
            <a:ext cx="402336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⚠  Limites Actuelles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92040" y="16642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Données symptômes : base statique (non mise à jour en temps réel)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2040" y="20665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Chiffrement XOR : léger, non cryptographiquement robuste (usage interne)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92040" y="2468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OrientMap : données géographiques à enrichir pour communes rurales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92040" y="28712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Pas de compte utilisateur (historique non persistant entre sessions)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8412480" cy="3474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564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🚀  Perspectives &amp; Évolutions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877056"/>
            <a:ext cx="274320" cy="2743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87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📱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96112" y="38404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Version React Native pour iOS/Android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697480" y="3877056"/>
            <a:ext cx="274320" cy="2743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697480" y="387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044952" y="38404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Intégration LLM local (Llama) pour OrientIA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3877056"/>
            <a:ext cx="274320" cy="2743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87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🔐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93792" y="38404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Chiffrement AES-256 pour SauveMoi QR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95160" y="3877056"/>
            <a:ext cx="274320" cy="2743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995160" y="387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💼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42632" y="38404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Valorisation sous forme de startup HealthTech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892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OrientDZ — NIT 2025-2026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8288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583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Générale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8412480" cy="100584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OrientDZ démontre qu'il est possible de concevoir une plateforme de santé mobile complète, bilingue (FR/AR), fonctionnant 100% hors-ligne pour ses modules critiques, sans infrastructure cloud, et adaptée aux contraintes spécifiques du contexte algérien.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192024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23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✅ OrientIA opérationnel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100+ symptômes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2423160"/>
            <a:ext cx="192024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2423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✅ OrientNutri validé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BMR/TDEE Mifflin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423160"/>
            <a:ext cx="192024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423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✅ SauveMoi QR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chiffrement local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2423160"/>
            <a:ext cx="192024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423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✅ 48 wilayas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OrientMap couvertes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493008"/>
            <a:ext cx="8412480" cy="8046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547872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"La technologie au service de la santé pour tous les citoyens algériens — sans barrière réseau, sans barrière linguistique."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92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OrientDZ — NIT 2025-2026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457200"/>
            <a:ext cx="5486400" cy="5486400"/>
          </a:xfrm>
          <a:prstGeom prst="ellipse">
            <a:avLst/>
          </a:prstGeom>
          <a:solidFill>
            <a:srgbClr val="0D9488">
              <a:alpha val="6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0"/>
            <a:ext cx="2743200" cy="274320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Q&amp;A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14400" y="2359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Merci de votre attention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0" y="2907792"/>
            <a:ext cx="2743200" cy="2286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1272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📧  islem889.09@gmail.com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3566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🎓  Numidia Institute of Technology — NIT 2025-2026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40050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🌐  OrientDZ — Plateforme d'orientation médicale en Algérie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4462272"/>
            <a:ext cx="1691640" cy="292608"/>
          </a:xfrm>
          <a:prstGeom prst="rect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4622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OrientIA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834640" y="4462272"/>
            <a:ext cx="1691640" cy="292608"/>
          </a:xfrm>
          <a:prstGeom prst="rect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44622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OrientNutri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4462272"/>
            <a:ext cx="1691640" cy="292608"/>
          </a:xfrm>
          <a:prstGeom prst="rect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44622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OrientMap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75120" y="4462272"/>
            <a:ext cx="1691640" cy="292608"/>
          </a:xfrm>
          <a:prstGeom prst="rect">
            <a:avLst/>
          </a:prstGeom>
          <a:solidFill>
            <a:srgbClr val="DC2626">
              <a:alpha val="22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44622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SauveMoi QR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Orient DZ © 2026 — Tous droits réservés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OrientDZ — PFE Presentation</dc:title>
  <dc:subject>PptxGenJS Presentation</dc:subject>
  <dc:creator>PptxGenJS</dc:creator>
  <cp:lastModifiedBy>PptxGenJS</cp:lastModifiedBy>
  <cp:revision>1</cp:revision>
  <dcterms:created xsi:type="dcterms:W3CDTF">2026-06-06T17:56:37Z</dcterms:created>
  <dcterms:modified xsi:type="dcterms:W3CDTF">2026-06-06T17:56:37Z</dcterms:modified>
</cp:coreProperties>
</file>