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0C8D0"/>
                </a:solidFill>
              </a:rPr>
              <a:t>NUMIDIA INSTITUTE OF TECHNOLOGY  ·  NIT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0" y="502920"/>
            <a:ext cx="6400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OrientDZ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</a:rPr>
              <a:t>A Bilingual Intelligent Web Platform for Health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103120"/>
            <a:ext cx="6400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31136"/>
            <a:ext cx="1828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31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OrientNutri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2231136"/>
            <a:ext cx="1828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231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SauveMoi QR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231136"/>
            <a:ext cx="1828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231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OrientMap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37960" y="2231136"/>
            <a:ext cx="1828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231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OrientIA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1605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8D0"/>
                </a:solidFill>
              </a:rPr>
              <a:t>MADJENE Nawel  ·  BENDEBBAH Mohamed Islem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8D0"/>
                </a:solidFill>
              </a:rPr>
              <a:t>Supervisor: M. MAZOUNI Fares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8D0"/>
                </a:solidFill>
              </a:rPr>
              <a:t>Option: Intelligence Artificielle  ·  Licence Informatique  ·  Academic Year 2025–2026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02C39A"/>
                </a:solidFill>
              </a:rPr>
              <a:t>PFE Defense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</a:rPr>
              <a:t>PRESENTATION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Presentation Outline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512064"/>
          </a:xfrm>
          <a:prstGeom prst="rect">
            <a:avLst/>
          </a:prstGeom>
          <a:solidFill>
            <a:srgbClr val="122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10642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325880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CC5"/>
                </a:solidFill>
              </a:rPr>
              <a:t>Context of digital health in Algeria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114800" cy="512064"/>
          </a:xfrm>
          <a:prstGeom prst="rect">
            <a:avLst/>
          </a:prstGeom>
          <a:solidFill>
            <a:srgbClr val="122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515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38928" y="110642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38928" y="1325880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CC5"/>
                </a:solidFill>
              </a:rPr>
              <a:t>Fragmented, cloud-dependent, Arabic-lacking solutions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655064"/>
            <a:ext cx="4114800" cy="512064"/>
          </a:xfrm>
          <a:prstGeom prst="rect">
            <a:avLst/>
          </a:prstGeom>
          <a:solidFill>
            <a:srgbClr val="122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65506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" y="170992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1929384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CC5"/>
                </a:solidFill>
              </a:rPr>
              <a:t>OrientDZ — the platform overview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655064"/>
            <a:ext cx="4114800" cy="512064"/>
          </a:xfrm>
          <a:prstGeom prst="rect">
            <a:avLst/>
          </a:prstGeom>
          <a:solidFill>
            <a:srgbClr val="122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65506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38928" y="170992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38928" y="1929384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CC5"/>
                </a:solidFill>
              </a:rPr>
              <a:t>Goals and scope of the project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258568"/>
            <a:ext cx="4114800" cy="512064"/>
          </a:xfrm>
          <a:prstGeom prst="rect">
            <a:avLst/>
          </a:prstGeom>
          <a:solidFill>
            <a:srgbClr val="122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25856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" y="231343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Methodology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253288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CC5"/>
                </a:solidFill>
              </a:rPr>
              <a:t>Architecture, stack, and design decisions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2258568"/>
            <a:ext cx="4114800" cy="512064"/>
          </a:xfrm>
          <a:prstGeom prst="rect">
            <a:avLst/>
          </a:prstGeom>
          <a:solidFill>
            <a:srgbClr val="122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25856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38928" y="231343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38928" y="253288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CC5"/>
                </a:solidFill>
              </a:rPr>
              <a:t>Modules, performance benchmarks, user testing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862072"/>
            <a:ext cx="4114800" cy="512064"/>
          </a:xfrm>
          <a:prstGeom prst="rect">
            <a:avLst/>
          </a:prstGeom>
          <a:solidFill>
            <a:srgbClr val="122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62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1248" y="291693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Discussion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" y="3136392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CC5"/>
                </a:solidFill>
              </a:rPr>
              <a:t>Comparison, limitations, future work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2862072"/>
            <a:ext cx="4114800" cy="512064"/>
          </a:xfrm>
          <a:prstGeom prst="rect">
            <a:avLst/>
          </a:prstGeom>
          <a:solidFill>
            <a:srgbClr val="122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862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38928" y="291693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38928" y="3136392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BCC5"/>
                </a:solidFill>
              </a:rPr>
              <a:t>Contributions and outlook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 in Algeria: Context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20116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88720"/>
            <a:ext cx="20116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45M+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703527"/>
            <a:ext cx="201168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Citizens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1051560"/>
            <a:ext cx="20116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95728" y="1188720"/>
            <a:ext cx="20116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95728" y="1703527"/>
            <a:ext cx="201168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4G penetration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(ARPCE 2024)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62856" y="1051560"/>
            <a:ext cx="2011680" cy="1051560"/>
          </a:xfrm>
          <a:prstGeom prst="rect">
            <a:avLst/>
          </a:prstGeom>
          <a:solidFill>
            <a:srgbClr val="E8734A"/>
          </a:solidFill>
          <a:ln w="12700">
            <a:solidFill>
              <a:srgbClr val="E87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62856" y="1188720"/>
            <a:ext cx="20116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3.5M+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62856" y="1703527"/>
            <a:ext cx="201168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Algerians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with diabetes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9984" y="1051560"/>
            <a:ext cx="2011680" cy="1051560"/>
          </a:xfrm>
          <a:prstGeom prst="rect">
            <a:avLst/>
          </a:prstGeom>
          <a:solidFill>
            <a:srgbClr val="E8734A"/>
          </a:solidFill>
          <a:ln w="12700">
            <a:solidFill>
              <a:srgbClr val="E87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9984" y="1188720"/>
            <a:ext cx="20116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29984" y="1703527"/>
            <a:ext cx="201168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Adults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hypertension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22860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Algeria's National Health Policy 2025–2030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identifies digital health as a priority reform lever, yet a significant gap exists between ambitions and deployed infrastructure.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2743200"/>
            <a:ext cx="8412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Rural &amp; peri-urban populations face severe informational asymmetry in accessing medical orientation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Chronic non-communicable diseases (diabetes, hypertension, cardiovascular) demand sustained nutritional education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Existing digital health apps require constant internet connectivity — unusable in low-coverage zones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Medical data transmitted to foreign servers raises legal concerns under Algerian Law n°18-07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Problems Do We Address?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9728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2743200" cy="50292"/>
          </a:xfrm>
          <a:prstGeom prst="rect">
            <a:avLst/>
          </a:prstGeom>
          <a:solidFill>
            <a:srgbClr val="E8734A"/>
          </a:solidFill>
          <a:ln w="12700">
            <a:solidFill>
              <a:srgbClr val="E87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No Arabic Support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Existing health apps lack native Arabic UI and RTL layout, excluding the majority of Algerian users.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18104" y="109728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18104" y="1097280"/>
            <a:ext cx="2743200" cy="50292"/>
          </a:xfrm>
          <a:prstGeom prst="rect">
            <a:avLst/>
          </a:prstGeom>
          <a:solidFill>
            <a:srgbClr val="E8734A"/>
          </a:solidFill>
          <a:ln w="12700">
            <a:solidFill>
              <a:srgbClr val="E87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Cloud Dependency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55264" y="148132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All available platforms require stable internet — failing in emergencies or low-coverage zones.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07608" y="109728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07608" y="1097280"/>
            <a:ext cx="2743200" cy="50292"/>
          </a:xfrm>
          <a:prstGeom prst="rect">
            <a:avLst/>
          </a:prstGeom>
          <a:solidFill>
            <a:srgbClr val="E8734A"/>
          </a:solidFill>
          <a:ln w="12700">
            <a:solidFill>
              <a:srgbClr val="E87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Privacy Risks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44768" y="148132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Medical data transmitted to foreign servers without explicit consent violates Algerian Law n°18-07 on personal data protection.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523744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523744"/>
            <a:ext cx="2743200" cy="50292"/>
          </a:xfrm>
          <a:prstGeom prst="rect">
            <a:avLst/>
          </a:prstGeom>
          <a:solidFill>
            <a:srgbClr val="E8734A"/>
          </a:solidFill>
          <a:ln w="12700">
            <a:solidFill>
              <a:srgbClr val="E87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15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Fragmented Tools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9077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No single platform integrates nutrition guidance, emergency records, and facility mapping for the Algerian context.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18104" y="2523744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18104" y="2523744"/>
            <a:ext cx="2743200" cy="50292"/>
          </a:xfrm>
          <a:prstGeom prst="rect">
            <a:avLst/>
          </a:prstGeom>
          <a:solidFill>
            <a:srgbClr val="E8734A"/>
          </a:solidFill>
          <a:ln w="12700">
            <a:solidFill>
              <a:srgbClr val="E87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2615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Cost Barriers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55264" y="29077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Backend infrastructure costs prevent academic and startup-led health projects from scaling sustainably.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07608" y="2523744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07608" y="2523744"/>
            <a:ext cx="2743200" cy="50292"/>
          </a:xfrm>
          <a:prstGeom prst="rect">
            <a:avLst/>
          </a:prstGeom>
          <a:solidFill>
            <a:srgbClr val="E8734A"/>
          </a:solidFill>
          <a:ln w="12700">
            <a:solidFill>
              <a:srgbClr val="E87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2615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Clinical Gap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44768" y="29077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Insufficient specialized nutritional guidance for the 38 most prevalent chronic pathologies in Algeria.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3977640"/>
            <a:ext cx="8686800" cy="822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9776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2C39A"/>
                </a:solidFill>
              </a:rPr>
              <a:t>Can we build a clinically-grounded, privacy-preserving, fully bilingual (FR/AR) health platform that works offline?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OrientDZ — The Proposed Platform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1005840"/>
            <a:ext cx="292608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08960" y="1005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OrientDZ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Client-side · JAMstack · Bilingual FR/AR · Privacy by Design · Zero Backend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103120"/>
            <a:ext cx="2057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103120"/>
            <a:ext cx="20574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031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OrientNutri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487168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Clinical nutrition expert system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38 pathologies · 10 categories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Mifflin-St Jeor BMR · ADA 2023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3–7 ms inference · No internet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04872" y="2103120"/>
            <a:ext cx="2057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04872" y="2103120"/>
            <a:ext cx="2057400" cy="347472"/>
          </a:xfrm>
          <a:prstGeom prst="rect">
            <a:avLst/>
          </a:prstGeom>
          <a:solidFill>
            <a:srgbClr val="E05C2D"/>
          </a:solidFill>
          <a:ln w="12700">
            <a:solidFill>
              <a:srgbClr val="E05C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21031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SauveMoi QR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96312" y="2487168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Offline emergency medical card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XOR+Base64 encryption · QR 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Blood type · Allergies · Contacts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Works without network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81144" y="2103120"/>
            <a:ext cx="2057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81144" y="2103120"/>
            <a:ext cx="2057400" cy="3474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21031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OrientMap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72584" y="2487168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Interactive health facility map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Leaflet.js + OpenStreetMap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Hospitals · Clinics · Pharmacies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Geolocation-based search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57416" y="2103120"/>
            <a:ext cx="2057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57416" y="2103120"/>
            <a:ext cx="20574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21031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OrientIA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48856" y="2487168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Bilingual conversational 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Medical Q&amp;A in FR and 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External LLM integration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General health orientation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8600" y="48188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Architecture: JAMstack · HTML5 · CSS3 · JavaScript ES6+  ·  Full offline for critical modules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51560"/>
            <a:ext cx="4160520" cy="1005840"/>
          </a:xfrm>
          <a:prstGeom prst="rect">
            <a:avLst/>
          </a:prstGeom>
          <a:solidFill>
            <a:srgbClr val="F8FB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51560"/>
            <a:ext cx="4572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515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11430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Offline-First Health Guidance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39903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Deliver clinically-grounded nutritional plans for 38 chronic pathologies operating entirely in the browser without any network request.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07992" y="1051560"/>
            <a:ext cx="4160520" cy="1005840"/>
          </a:xfrm>
          <a:prstGeom prst="rect">
            <a:avLst/>
          </a:prstGeom>
          <a:solidFill>
            <a:srgbClr val="F8FB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7992" y="1051560"/>
            <a:ext cx="4572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0515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56632" y="11430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Bilingual Native Support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56632" y="139903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Implement full French–Arabic UI with dynamic RTL/LTR switching, 300+ translation keys, and zero FOUC through custom i18n engine.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" y="2203704"/>
            <a:ext cx="4160520" cy="1005840"/>
          </a:xfrm>
          <a:prstGeom prst="rect">
            <a:avLst/>
          </a:prstGeom>
          <a:solidFill>
            <a:srgbClr val="F8FB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2203704"/>
            <a:ext cx="4572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2203704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22951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Privacy by Design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55117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Ensure all medical data remains exclusively client-side, in compliance with Algerian Law n°18-07 on personal data protection.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07992" y="2203704"/>
            <a:ext cx="4160520" cy="1005840"/>
          </a:xfrm>
          <a:prstGeom prst="rect">
            <a:avLst/>
          </a:prstGeom>
          <a:solidFill>
            <a:srgbClr val="F8FB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07992" y="2203704"/>
            <a:ext cx="4572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2203704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56632" y="22951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Emergency Medical Access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56632" y="255117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Enable first responders to access critical patient data offline via XOR-encrypted QR codes, without any server transmission.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" y="3355848"/>
            <a:ext cx="4160520" cy="1005840"/>
          </a:xfrm>
          <a:prstGeom prst="rect">
            <a:avLst/>
          </a:prstGeom>
          <a:solidFill>
            <a:srgbClr val="F8FB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1168" y="3355848"/>
            <a:ext cx="4572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3355848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" y="34472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Verified Clinical Performance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37033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Achieve Lighthouse scores ≥ 90 (Performance 91, Best Practices 95, SEO 92) and sub-200ms inference latency.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07992" y="3355848"/>
            <a:ext cx="4160520" cy="1005840"/>
          </a:xfrm>
          <a:prstGeom prst="rect">
            <a:avLst/>
          </a:prstGeom>
          <a:solidFill>
            <a:srgbClr val="F8FB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07992" y="3355848"/>
            <a:ext cx="4572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7992" y="3355848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56632" y="34472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Health Facility Discovery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56632" y="37033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Provide an interactive geolocation-based map of Algerian health facilities using Leaflet.js and OpenStreetMap.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5029200" cy="65836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51560"/>
            <a:ext cx="201168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51560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PRESENTATION LAYER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31720" y="11430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HTML5 Semantic · CSS3 Design Tokens · RTL/LTR i18n Engine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801368"/>
            <a:ext cx="5029200" cy="65836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801368"/>
            <a:ext cx="20116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801368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LOGIC LAYER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31720" y="18928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NutriEngine ES6 Class · XOR Cryptography · QR Generator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551176"/>
            <a:ext cx="5029200" cy="65836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551176"/>
            <a:ext cx="201168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551176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LAYER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31720" y="26426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LocalStorage · Web Storage API · MEALS_DB · PATHO_PROFILES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300984"/>
            <a:ext cx="5029200" cy="65836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300984"/>
            <a:ext cx="201168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300984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MAPPING LAYER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31720" y="339242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Leaflet.js v1.9.4 · OpenStreetMap · Geolocation API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4050792"/>
            <a:ext cx="5029200" cy="65836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4050792"/>
            <a:ext cx="2011680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4050792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 LAYER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31720" y="41422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OrientIA · External LLM · Bilingual conversational interface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0680" y="1005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</a:rPr>
              <a:t>TECH STACK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40680" y="1325880"/>
            <a:ext cx="3474720" cy="530352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1371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HTML5 + CSS3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15819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Semantic markup, design tokens, RTL/LTR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40680" y="1938528"/>
            <a:ext cx="3474720" cy="530352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19842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JavaScript ES6+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2194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Class-based architecture, no frameworks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2551176"/>
            <a:ext cx="3474720" cy="530352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2596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Leaflet.js v1.9.4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28072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Lightweight interactive maps (42KB)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3163824"/>
            <a:ext cx="3474720" cy="530352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32095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QRCode.js v1.0.0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32120" y="34198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Client-side QR generation, no dependencies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3776472"/>
            <a:ext cx="3474720" cy="530352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38221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Google Fonts (lazy)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32120" y="40325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Inter (FR) + Cairo (AR), injected on demand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4389120"/>
            <a:ext cx="3474720" cy="530352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4434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JAMstack / Static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32120" y="4645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GitHub Pages / Netlify · Zero backend cost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RESULTS — MODULE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OrientNutri: Nutritional Expert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201168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88720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675181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Pathologies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covered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1051560"/>
            <a:ext cx="201168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95728" y="1188720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95728" y="1675181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Clinical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categories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62856" y="1051560"/>
            <a:ext cx="2011680" cy="1005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62856" y="1188720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3–7ms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62856" y="1675181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Inference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latency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9984" y="1051560"/>
            <a:ext cx="2011680" cy="1005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9984" y="1188720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85–98%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29984" y="1675181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Deterministic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confidence score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2240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" y="2560320"/>
            <a:ext cx="4160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User inputs biometric data (age, weight, height, sex, PAL, pathology)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NutriEngine calculates BMR via Mifflin-St Jeor equation (JPEN 1990)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TDEE computed with WHO/FAO PAL coefficients (FAO TRS No.1, 2004)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Caloric target adjusted per goal (loss/maintain/gain) per WHO 2022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Macronutrients derived from PATHO_PROFILES (ADA 2023, DASH, ACC/AHA, KDIGO)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7-day meal plan assembled from bilingual MEALS_DB (CIQUAL 2020 / USDA 2023)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240280"/>
            <a:ext cx="4389120" cy="2697480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3042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Verification Case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2606040"/>
            <a:ext cx="4206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Male · 35 y/o · 80 kg · 175 cm · Sedentary · Diabetes Type 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BMR = (10×80) + (6.25×175) − (5×35) + 5 = 1724 kcal/day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TDEE = 1724 × 1.2 (PAL sedentary) = 2069 kcal/day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(maintain) = 2069 kcal/day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Profile: ADA 2023 → P 25% · G 40% · L 35%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Proteins: 129 g  ·  Carbs: 207 g  ·  Fats: 80 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score: 92% (deterministic)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RESULTS — MODULE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SauveMoi QR: Offline Emergency Medical Card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Cryptographic Protocol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417320"/>
            <a:ext cx="4206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User fills emergency form: blood type, allergies, pathologies, medications, emergency contact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Data serialized to JSON → UTF-8 byte array via TextEncoder()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XOR encryption: C[i] = P[i] ⊕ K[i mod 34]  with 34-byte APP_KEY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Base64 encoding via btoa() → URL-safe ASCII string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URL constructed: emergency_qr.html?data=&lt;encoded&gt;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QRCode.js generates scannable QR (180×180 px, Error Correction M)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On scan: automatic decryption → emergency overlay displays in full screen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17720" y="1097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Key Properties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4297680" cy="594360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417320"/>
            <a:ext cx="73152" cy="594360"/>
          </a:xfrm>
          <a:prstGeom prst="rect">
            <a:avLst/>
          </a:prstGeom>
          <a:solidFill>
            <a:srgbClr val="E05C2D"/>
          </a:solidFill>
          <a:ln w="12700">
            <a:solidFill>
              <a:srgbClr val="E05C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4721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Zero Transmission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3168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No data sent to any server — entire medical record lives in the QR URL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2103120"/>
            <a:ext cx="4297680" cy="594360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103120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1579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Full Arabic Support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73168" y="2377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UTF-8 multi-byte handling via TextEncoder/TextDecoder preserves Arabic text through encryption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2788920"/>
            <a:ext cx="4297680" cy="594360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788920"/>
            <a:ext cx="73152" cy="5943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8437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Instant Decryption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3063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XOR self-inverse property → same function encrypts and decrypts, sub-millisecond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3474720"/>
            <a:ext cx="4297680" cy="594360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3474720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35295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Emergency Display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73168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Scan mode: full-screen overlay with blood type, allergies in red, SAMU 14 / Urgences 15 direct call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4160520"/>
            <a:ext cx="4297680" cy="594360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4160520"/>
            <a:ext cx="73152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42153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Portable Formats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4434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Download as wallet card (1010×638 px PNG) or phone wallpaper (1080×1920 px)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RESULTS — MODULES 3 &amp;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OrientMap · OrientIA · Bilingual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2788920" cy="3566160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51560"/>
            <a:ext cx="2788920" cy="3474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51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OrientMap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463040"/>
            <a:ext cx="256946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Interactive map of Algerian health facilities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Leaflet.js v1.9.4 (42KB) + OpenStreetMap (ODbL)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Hospitals · Clinics · Pharmacies · Care Centers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Geolocation-based nearest facility search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Mobile-responsive with pinch-to-zoom support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27248" y="1051560"/>
            <a:ext cx="2788920" cy="3566160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27248" y="1051560"/>
            <a:ext cx="2788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051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OrientIA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36976" y="1463040"/>
            <a:ext cx="256946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Bilingual conversational medical assistant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French &amp; Arabic health Q&amp;A interface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External LLM integration for general orientation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Clearly scoped to general guidance (not diagnosis)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Consistent UI with rest of the platform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051560"/>
            <a:ext cx="2788920" cy="3566160"/>
          </a:xfrm>
          <a:prstGeom prst="rect">
            <a:avLst/>
          </a:prstGeom>
          <a:solidFill>
            <a:srgbClr val="FAFC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1051560"/>
            <a:ext cx="2788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25896" y="1051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i18n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35624" y="1463040"/>
            <a:ext cx="256946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300+ translation keys (FR/AR) in js/i18n.js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switchLanguage() persists in localStorage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Dynamic RTL/LTR: html[dir] attribute switch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Lazy Arabic font injection (Cairo, Google Fonts)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CustomEvent('pw:langchange') syncs all modules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Zero FOUC (Flash of Unstyled Content)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All modules share a unified design token system (CSS custom properties) ensuring visual consistency across the platform.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RESULTS — 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&amp; Lighthouse Scores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1737360" cy="17373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704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</a:rPr>
              <a:t>91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286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/100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Performance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95728" y="1005840"/>
            <a:ext cx="1737360" cy="17373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11704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47857"/>
                </a:solidFill>
              </a:rPr>
              <a:t>87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39572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7857"/>
                </a:solidFill>
              </a:rPr>
              <a:t>/100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Accessibility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62856" y="1005840"/>
            <a:ext cx="1737360" cy="17373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62856" y="11704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</a:rPr>
              <a:t>95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62856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/100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62856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Best Practices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9984" y="1005840"/>
            <a:ext cx="1737360" cy="17373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9984" y="11704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</a:rPr>
              <a:t>92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729984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/100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9984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SEO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Latency Benchmarks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520440"/>
          <a:ext cx="5029200" cy="1371600"/>
        </p:xfrm>
        <a:graphic>
          <a:graphicData uri="http://schemas.openxmlformats.org/drawingml/2006/table">
            <a:tbl>
              <a:tblPr/>
              <a:tblGrid>
                <a:gridCol w="347472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Latency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OrientNutri full inference (run())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3–7 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SauveMoi XOR encrypt/decrypt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&lt; 1 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Page initial load (4G)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&lt; 2 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Language switch (switchLanguage)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&lt; 10 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486400" y="3200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Test &amp; Validation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0" y="35204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5 user profiles tested (student, teacher, retiree, GP, nurse)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SauveMoi QR rated 'immediately useful' by all participants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GP confirmed clinical relevance of nutritional profiles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Sub-200ms inference on entry-level smartphone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Full offline functionality for OrientNutri + SauveMoi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Arabic RTL rendering verified on Chrome + Firefox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DISCUSSION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Solutions &amp;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vs. Existing Health Platforms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371600"/>
          <a:ext cx="502920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1508760"/>
                <a:gridCol w="1508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Apps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OrientDZ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Native Arabic + RTL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Rare / poor quality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✓ Full, native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Offline operation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✓ Critical modules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Privacy (no server)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Always cloud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✓ Client-side only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Emergency QR card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✓ SauveMoi QR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Clinical nutrition (38 paths)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✓ OrientNutri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Zero backend 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✓ Static hosting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Algerian Law 18-07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Not addressed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✓ By 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0" y="1051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34A"/>
                </a:solidFill>
              </a:rPr>
              <a:t>Current Limitations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0" y="137160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Accessibility score 87/100 — some dynamic ARIA labels incomplete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OrientIA depends on external LLM — no offline AI conversation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MEALS_DB limited to 24 dishes (to be enriched with Algerian dishes)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No longitudinal biometric tracking across sessions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OrientMap facility data manually curated, not real-time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XOR encryption provides obfuscation, not cryptographic hardening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0" y="3749040"/>
            <a:ext cx="3429000" cy="1188720"/>
          </a:xfrm>
          <a:prstGeom prst="rect">
            <a:avLst/>
          </a:prstGeom>
          <a:solidFill>
            <a:srgbClr val="EFF9F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381304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Future Work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77840" y="406908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Service Worker → full PWA offline install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Accessibility score → 95+ (complete ARIA)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Optional lightweight backend for sync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Partnership with Algerian public health institutions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Contributions of OrientDZ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114800" cy="1051560"/>
          </a:xfrm>
          <a:prstGeom prst="rect">
            <a:avLst/>
          </a:prstGeom>
          <a:solidFill>
            <a:srgbClr val="122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9144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Architectural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4081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8D0"/>
                </a:solidFill>
              </a:rPr>
              <a:t>Proves viability of a fully client-side health platform meeting performance, accessibility, and privacy requirements simultaneously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4114800" cy="1051560"/>
          </a:xfrm>
          <a:prstGeom prst="rect">
            <a:avLst/>
          </a:prstGeom>
          <a:solidFill>
            <a:srgbClr val="122A42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005840"/>
            <a:ext cx="91440" cy="10515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Algorithmic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8888" y="14081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8D0"/>
                </a:solidFill>
              </a:rPr>
              <a:t>Implements a clinically-grounded nutritional expert system (38 pathologies, Mifflin-St Jeor, PAL OMS/FAO) with 3–7 ms inference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194560"/>
            <a:ext cx="4114800" cy="1051560"/>
          </a:xfrm>
          <a:prstGeom prst="rect">
            <a:avLst/>
          </a:prstGeom>
          <a:solidFill>
            <a:srgbClr val="122A4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194560"/>
            <a:ext cx="91440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Cryptographic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25968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8D0"/>
                </a:solidFill>
              </a:rPr>
              <a:t>Original solution for offline emergency data access via XOR+Base64 protocol — no network required, full Arabic support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194560"/>
            <a:ext cx="4114800" cy="1051560"/>
          </a:xfrm>
          <a:prstGeom prst="rect">
            <a:avLst/>
          </a:prstGeom>
          <a:solidFill>
            <a:srgbClr val="122A4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194560"/>
            <a:ext cx="9144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Linguistic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25968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8D0"/>
                </a:solidFill>
              </a:rPr>
              <a:t>Custom i18n engine with 300+ keys, dynamic RTL/LTR, lazy Arabic font injection — zero FOUC, zero external libraries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520440"/>
            <a:ext cx="86868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20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Lighthouse 91/100 · Offline-first · Bilingual FR/AR RTL · Privacy by Design · JAMstack · Zero backend cost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25196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BCC5"/>
                </a:solidFill>
              </a:rPr>
              <a:t>OrientDZ represents what Algerian AI academic research can produce: a sovereign, accessible, medically grounded, privacy-respecting platform — a foundation for the health-tech startup ecosystem in Algeria.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0C8D0"/>
                </a:solidFill>
              </a:rPr>
              <a:t>Thank You for Your Attention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1143000"/>
            <a:ext cx="54864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66344" y="2606040"/>
            <a:ext cx="15544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6344" y="3172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Functional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Modules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30552" y="2606040"/>
            <a:ext cx="15544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30552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30552" y="3172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Pathologies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Covered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94760" y="2606040"/>
            <a:ext cx="15544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300+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94760" y="3172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Translation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Keys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58968" y="2606040"/>
            <a:ext cx="15544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58968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58968" y="3172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Lighthouse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23176" y="2606040"/>
            <a:ext cx="15544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23176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123176" y="3172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Backend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365760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8D0"/>
                </a:solidFill>
              </a:rPr>
              <a:t>MADJENE Nawel  ·  BENDEBBAH Mohamed Islem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8D0"/>
                </a:solidFill>
              </a:rPr>
              <a:t>Supervisor: M. MAZOUNI Fares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8D0"/>
                </a:solidFill>
              </a:rPr>
              <a:t>Licence Informatique · Option Intelligence Artificielle · NIT · 2025–2026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4617720"/>
            <a:ext cx="54864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BCC5"/>
                </a:solidFill>
              </a:rPr>
              <a:t>OrientDZ — Bilingual Intelligent Health Platform · PFE Defense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OrientDZ Defense Presentation</dc:title>
  <dc:subject>PptxGenJS Presentation</dc:subject>
  <dc:creator>MADJENE Nawel &amp; BENDEBBAH Mohamed Islem</dc:creator>
  <cp:lastModifiedBy>MADJENE Nawel &amp; BENDEBBAH Mohamed Islem</cp:lastModifiedBy>
  <cp:revision>1</cp:revision>
  <dcterms:created xsi:type="dcterms:W3CDTF">2026-06-06T18:56:33Z</dcterms:created>
  <dcterms:modified xsi:type="dcterms:W3CDTF">2026-06-06T18:56:33Z</dcterms:modified>
</cp:coreProperties>
</file>